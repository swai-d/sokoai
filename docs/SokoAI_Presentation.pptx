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3657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</a:rPr>
              <a:t>COMPUTER SCIENCE PROJECT — AI INNOVATION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" y="1005840"/>
            <a:ext cx="8686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SokoAI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28600" y="233172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</a:rPr>
              <a:t>AI-Powered Market Price Prediction System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</a:rPr>
              <a:t>Helping Small-Scale Traders in Dar es Salaam, Tanzania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" y="3657600"/>
            <a:ext cx="201168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37033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</a:rPr>
              <a:t>86.7%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8600" y="42062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Average Model Accuracy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3657600"/>
            <a:ext cx="201168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3160" y="37033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96F3"/>
                </a:solidFill>
              </a:rPr>
              <a:t>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23160" y="42062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Commodities Tracked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3657600"/>
            <a:ext cx="201168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37033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2 Years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17720" y="42062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Historical Data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3657600"/>
            <a:ext cx="201168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12280" y="37033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897B"/>
                </a:solidFill>
              </a:rPr>
              <a:t>8 Weeks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12280" y="42062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Forecast Horizon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" y="480060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Davis Every Swai  ·  Terra Consultant Limited  ·  Dar es Salaam  · 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2286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34155"/>
                </a:solidFill>
              </a:rPr>
              <a:t>01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196F3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Traders Are Losing Money — Every Day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65176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00200"/>
            <a:ext cx="26517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7830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💸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23774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Unpredictable Price Swings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92608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Prices of cooking oil, rice, and onions change suddenly without warning. Traders end up buying at peak prices and selling at a loss.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600200"/>
            <a:ext cx="265176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600200"/>
            <a:ext cx="26517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7830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337560" y="23774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 Access to Price Intelligence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92608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There is no tool to predict where prices will be next week. Purchasing decisions are made without any data or market insight.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600200"/>
            <a:ext cx="265176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600200"/>
            <a:ext cx="26517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17830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💔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172200" y="23774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Small Traders Suffer Most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292608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Street vendors and small food sellers are hit hardest — they lack the capital buffers that larger traders have to absorb price shocks.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solidFill>
            <a:srgbClr val="1A0505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5445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F4444"/>
                </a:solidFill>
              </a:rPr>
              <a:t>Estimate: Over 50,000 small traders in Dar es Salaam are affected by commodity price volatility every year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2286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34155"/>
                </a:solidFill>
              </a:rPr>
              <a:t>02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897B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SokoAI — AI That Solves This Problem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530352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64008" cy="32004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</a:rPr>
              <a:t>How It Works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📥  Collect historical commodity price data from DSM markets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45059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🌦️  Integrate weather data and seasonal patterns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843784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📅  Account for local events — Ramadan, Christmas, harvest season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23697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🤖  Train an ML Model (Polynomial Regression) on the data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63016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📊  Forecast prices for the next 8 weeks per commodity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02336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🔔  Smart Alert — BUY NOW / WAIT / STABLE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52160" y="1508760"/>
            <a:ext cx="2926080" cy="1371600"/>
          </a:xfrm>
          <a:prstGeom prst="rect">
            <a:avLst/>
          </a:prstGeom>
          <a:solidFill>
            <a:srgbClr val="052E1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852160" y="1508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97B"/>
                </a:solidFill>
              </a:rPr>
              <a:t>Benefits to Traders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89320" y="1920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</a:rPr>
              <a:t>✅  Buy in bulk when prices are low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89320" y="22402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</a:rPr>
              <a:t>✅  Avoid losses from buying at peaks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89320" y="2560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</a:rPr>
              <a:t>✅  Plan cash reserves more effectively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52160" y="3063240"/>
            <a:ext cx="292608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52160" y="31546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96F3"/>
                </a:solidFill>
              </a:rPr>
              <a:t>Projected Impact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Reduce losses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0" y="37947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96F3"/>
                </a:solidFill>
              </a:rPr>
              <a:t>by up to 30%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943600" y="4206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per trader per season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2286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34155"/>
                </a:solidFill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</a:rPr>
              <a:t>DATA SOURCES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Data Powers the Model?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697480" cy="3017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54480"/>
            <a:ext cx="269748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7373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Historical Prices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96F3"/>
                </a:solidFill>
              </a:rPr>
              <a:t>520 records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Weekly prices for 5 commodities over 2 years (Jan 2023 – Dec 2024). Data reflects real price patterns from Kariakoo and Tandale markets, DSM.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554480"/>
            <a:ext cx="2697480" cy="3017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554480"/>
            <a:ext cx="269748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17373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🌦️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37560" y="22860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Weather Data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26517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897B"/>
                </a:solidFill>
              </a:rPr>
              <a:t>OpenWeather API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37560" y="297180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Rainfall, temperature, and seasonal conditions. Prices rise in dry seasons and fall during harvests — a real correlation captured by the model.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554480"/>
            <a:ext cx="2697480" cy="3017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554480"/>
            <a:ext cx="26974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7373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217920" y="22860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Calendar Events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26517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Tanzania Public Holidays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297180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Ramadan, Christmas, Independence Day. These events have a significant and measurable impact on food commodity prices in DSM.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6908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Dataset: 520 records  ·  5 Commodities  ·  Jan 2023 – Dec 2024  ·  Kariakoo &amp; Tandale markets, Dar es Salaam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2286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34155"/>
                </a:solidFill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196F3"/>
                </a:solidFill>
              </a:rPr>
              <a:t>AI TECHNOLOGY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Machine Learning Model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1508760" cy="1280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08760"/>
            <a:ext cx="150876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6459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📥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205740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83080" y="2148840"/>
            <a:ext cx="2286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011680" y="1508760"/>
            <a:ext cx="1508760" cy="1280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0" y="1508760"/>
            <a:ext cx="150876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2" name="Text 10"/>
          <p:cNvSpPr/>
          <p:nvPr/>
        </p:nvSpPr>
        <p:spPr>
          <a:xfrm>
            <a:off x="2011680" y="16459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011680" y="205740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20440" y="2148840"/>
            <a:ext cx="2286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749040" y="1508760"/>
            <a:ext cx="1508760" cy="1280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49040" y="1508760"/>
            <a:ext cx="1508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3749040" y="16459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749040" y="205740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Polynomial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257800" y="2148840"/>
            <a:ext cx="2286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486400" y="1508760"/>
            <a:ext cx="1508760" cy="1280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0" y="1508760"/>
            <a:ext cx="1508760" cy="54864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0" y="16459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86400" y="205740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Cross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Validation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95160" y="2148840"/>
            <a:ext cx="2286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7223760" y="1508760"/>
            <a:ext cx="1508760" cy="1280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23760" y="1508760"/>
            <a:ext cx="150876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0" y="16459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223760" y="205740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Prediction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Output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2971800"/>
            <a:ext cx="4114800" cy="1920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65760" y="3063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96F3"/>
                </a:solidFill>
              </a:rPr>
              <a:t>Input Features Used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342900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✦  t (time index)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367588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✦  sin/cos of month (seasonal cycle)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3922776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✦  sin/cos of week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169664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✦  is_ramadan (Ramadan period)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416552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✦  is_holiday_season (Nov–Dec)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66344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✦  is_harvest (March–May)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0" y="2971800"/>
            <a:ext cx="4206240" cy="1920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663440" y="30632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</a:rPr>
              <a:t>Training Results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663440" y="3429000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Rice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132320" y="3429000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196F3"/>
                </a:solidFill>
              </a:rPr>
              <a:t>90.4%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663440" y="3675888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Cooking Oil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132320" y="3675888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196F3"/>
                </a:solidFill>
              </a:rPr>
              <a:t>89.4%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663440" y="3922776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Onions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132320" y="3922776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196F3"/>
                </a:solidFill>
              </a:rPr>
              <a:t>94.0%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663440" y="4169664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Sugar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132320" y="4169664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196F3"/>
                </a:solidFill>
              </a:rPr>
              <a:t>82.8%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663440" y="4416552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Wheat Flour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132320" y="4416552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196F3"/>
                </a:solidFill>
              </a:rPr>
              <a:t>76.9%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663440" y="4663440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Average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132320" y="4663440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86.7%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2286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34155"/>
                </a:solidFill>
              </a:rPr>
              <a:t>05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196F3"/>
                </a:solidFill>
              </a:rPr>
              <a:t>LIVE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Web Dashboard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5943600" cy="3383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55448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🌾  Rice — Historical Prices + Forecast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554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196F3"/>
                </a:solidFill>
              </a:rPr>
              <a:t>TZS 3,011 / kg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54864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48640" y="2651760"/>
            <a:ext cx="54864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48640" y="3291840"/>
            <a:ext cx="54864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548640" y="3931920"/>
            <a:ext cx="54864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548640" y="4297680"/>
            <a:ext cx="274320" cy="-9144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206240"/>
            <a:ext cx="274320" cy="18288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4389120"/>
            <a:ext cx="274320" cy="-36576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4023360"/>
            <a:ext cx="274320" cy="-9144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0" y="3931920"/>
            <a:ext cx="274320" cy="18288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20240" y="4114800"/>
            <a:ext cx="274320" cy="-27432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94560" y="3840480"/>
            <a:ext cx="274320" cy="-9144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68880" y="3749040"/>
            <a:ext cx="274320" cy="-9144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0" y="3657600"/>
            <a:ext cx="274320" cy="-18288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17520" y="3474720"/>
            <a:ext cx="274320" cy="-18288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3291840"/>
            <a:ext cx="274320" cy="-18288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66160" y="3108960"/>
            <a:ext cx="274320" cy="27432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0" y="3383280"/>
            <a:ext cx="274320" cy="45720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0" y="3840480"/>
            <a:ext cx="274320" cy="54864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0" y="4389120"/>
            <a:ext cx="274320" cy="-18288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4206240"/>
            <a:ext cx="274320" cy="-274320"/>
          </a:xfrm>
          <a:prstGeom prst="line">
            <a:avLst/>
          </a:prstGeom>
          <a:noFill/>
          <a:ln w="25400">
            <a:solidFill>
              <a:srgbClr val="A855F7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4937760" y="3931920"/>
            <a:ext cx="274320" cy="-274320"/>
          </a:xfrm>
          <a:prstGeom prst="line">
            <a:avLst/>
          </a:prstGeom>
          <a:noFill/>
          <a:ln w="25400">
            <a:solidFill>
              <a:srgbClr val="A855F7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5212080" y="3657600"/>
            <a:ext cx="274320" cy="-182880"/>
          </a:xfrm>
          <a:prstGeom prst="line">
            <a:avLst/>
          </a:prstGeom>
          <a:noFill/>
          <a:ln w="25400">
            <a:solidFill>
              <a:srgbClr val="A855F7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5486400" y="3474720"/>
            <a:ext cx="274320" cy="-91440"/>
          </a:xfrm>
          <a:prstGeom prst="line">
            <a:avLst/>
          </a:prstGeom>
          <a:noFill/>
          <a:ln w="25400">
            <a:solidFill>
              <a:srgbClr val="A855F7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5760720" y="3383280"/>
            <a:ext cx="274320" cy="-91440"/>
          </a:xfrm>
          <a:prstGeom prst="line">
            <a:avLst/>
          </a:prstGeom>
          <a:noFill/>
          <a:ln w="25400">
            <a:solidFill>
              <a:srgbClr val="A855F7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914400" y="4709160"/>
            <a:ext cx="32004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80160" y="4663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Actual price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0" y="4709160"/>
            <a:ext cx="320040" cy="0"/>
          </a:xfrm>
          <a:prstGeom prst="line">
            <a:avLst/>
          </a:prstGeom>
          <a:noFill/>
          <a:ln w="25400">
            <a:solidFill>
              <a:srgbClr val="A855F7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3108960" y="4663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 Forecast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92240" y="1463040"/>
            <a:ext cx="2331720" cy="1508760"/>
          </a:xfrm>
          <a:prstGeom prst="rect">
            <a:avLst/>
          </a:prstGeom>
          <a:solidFill>
            <a:srgbClr val="052E1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583680" y="15544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🟢  AI RECOMMENDATION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583680" y="18288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WAIT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6583680" y="22860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6EFAC"/>
                </a:solidFill>
              </a:rPr>
              <a:t>Price will drop 14.5%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6EFAC"/>
                </a:solidFill>
              </a:rPr>
              <a:t>in 4 weeks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3108960"/>
            <a:ext cx="2331720" cy="1737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583680" y="32004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STATISTICS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583680" y="354787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Accuracy (R²)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406640" y="354787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90.4%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583680" y="39319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MAE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406640" y="39319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TZS 50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583680" y="43159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Week 4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406640" y="431596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196F3"/>
                </a:solidFill>
              </a:rPr>
              <a:t>TZS 2,574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2286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34155"/>
                </a:solidFill>
              </a:rPr>
              <a:t>06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C55E"/>
                </a:solidFill>
              </a:rPr>
              <a:t>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Works — Real Numbers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560320" cy="1828800"/>
          </a:xfrm>
          <a:prstGeom prst="rect">
            <a:avLst/>
          </a:prstGeom>
          <a:solidFill>
            <a:srgbClr val="052E1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6002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86.7%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65760" y="2514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6EFAC"/>
                </a:solidFill>
              </a:rPr>
              <a:t>Average Model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6EFAC"/>
                </a:solidFill>
              </a:rPr>
              <a:t>Accuracy (R²)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8960" y="1417320"/>
            <a:ext cx="5669280" cy="1920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508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Accuracy per Commodity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192024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Onions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1938528"/>
            <a:ext cx="3094330" cy="20116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0" y="1920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897B"/>
                </a:solidFill>
              </a:rPr>
              <a:t>94%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222199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Rice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0" y="2240280"/>
            <a:ext cx="2975823" cy="201168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0" y="22219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196F3"/>
                </a:solidFill>
              </a:rPr>
              <a:t>90.4%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252374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Cooking Oil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80560" y="2542032"/>
            <a:ext cx="2942905" cy="201168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0" y="252374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4F8A"/>
                </a:solidFill>
              </a:rPr>
              <a:t>89.4%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0" y="282549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Sugar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80560" y="2843784"/>
            <a:ext cx="2725644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0" y="282549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82.8%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0" y="312724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Wheat Flour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80560" y="3145536"/>
            <a:ext cx="2531425" cy="2011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0" y="312724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76.9%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474720"/>
            <a:ext cx="2651760" cy="1417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5760" y="35661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TZS 60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457200" y="4160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Mean Absolute Error (MAE)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480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Onions — only TZS 35!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3474720"/>
            <a:ext cx="2651760" cy="1417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200400" y="35661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196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2.5%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3291840" y="4160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Mean Abs. % Error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91840" y="4480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Average MAPE across all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35040" y="3474720"/>
            <a:ext cx="2651760" cy="1417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035040" y="35661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0.28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6126480" y="4160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Cross-Validation R²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26480" y="4480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Robust on unseen data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2286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34155"/>
                </a:solidFill>
              </a:rPr>
              <a:t>07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</a:rPr>
              <a:t>SMART ALERTS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System Tells You Exactly What to Do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8412480" cy="1051560"/>
          </a:xfrm>
          <a:prstGeom prst="rect">
            <a:avLst/>
          </a:prstGeom>
          <a:solidFill>
            <a:srgbClr val="450A0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54864" cy="10515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00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BUY NOW 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Onions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16916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Price will rise 8% — buy 50kg+ today!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49440" y="1600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Now: TZS 1,729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49440" y="2011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Week 4: TZS 1,869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697480"/>
            <a:ext cx="8412480" cy="1051560"/>
          </a:xfrm>
          <a:prstGeom prst="rect">
            <a:avLst/>
          </a:prstGeom>
          <a:solidFill>
            <a:srgbClr val="052E1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697480"/>
            <a:ext cx="54864" cy="10515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788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WAIT 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200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Rice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28803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Price will drop 14.5% — wait 4 weeks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49440" y="2788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Now: TZS 3,011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4944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Week 4: TZS 2,574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886200"/>
            <a:ext cx="8412480" cy="1051560"/>
          </a:xfrm>
          <a:prstGeom prst="rect">
            <a:avLst/>
          </a:prstGeom>
          <a:solidFill>
            <a:srgbClr val="1C1403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886200"/>
            <a:ext cx="54864" cy="1051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977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STABLE 🟡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4389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Sugar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0" y="40690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Price is stable — no significant changes ahead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49440" y="3977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Now: TZS 2,547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49440" y="4389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Week 4: TZS 2,514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5029200"/>
            <a:ext cx="841248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5056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Alert logic: Change &gt;5% → BUY NOW / WAIT  ·  Change &lt;5% → STABLE  ·  Generated automatically per commodity every week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2286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34155"/>
                </a:solidFill>
              </a:rPr>
              <a:t>08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196F3"/>
                </a:solidFill>
              </a:rPr>
              <a:t>TECHNOLOGY &amp; FUTURE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 and What Comes Next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114800" cy="3383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554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96F3"/>
                </a:solidFill>
              </a:rPr>
              <a:t>⚙️  Tech Stack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123444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1168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96F3"/>
                </a:solidFill>
              </a:rPr>
              <a:t>Frontend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20299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Next.js 14 + Recharts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441448"/>
            <a:ext cx="123444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44144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96F3"/>
                </a:solidFill>
              </a:rPr>
              <a:t>Backend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0" y="245973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Next.js API Routes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871216"/>
            <a:ext cx="123444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871216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96F3"/>
                </a:solidFill>
              </a:rPr>
              <a:t>Database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0" y="288950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PostgreSQL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300984"/>
            <a:ext cx="123444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300984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96F3"/>
                </a:solidFill>
              </a:rPr>
              <a:t>ML Engine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28800" y="33192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Python + scikit-learn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730752"/>
            <a:ext cx="123444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73075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96F3"/>
                </a:solidFill>
              </a:rPr>
              <a:t>Model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28800" y="3749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Polynomial Regression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4160520"/>
            <a:ext cx="123444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16052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96F3"/>
                </a:solidFill>
              </a:rPr>
              <a:t>Deployment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28800" y="41788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Vercel + Railway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1463040"/>
            <a:ext cx="4114800" cy="3383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00600" y="1554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</a:rPr>
              <a:t>🚀  Future Roadmap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00600" y="2011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📱  Mobile App (Flutter/Android) for traders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24414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🔔  SMS alerts for low-connectivity areas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287121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🗺️  Expand to more cities — Arusha, Mwanza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330098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🤖  Upgrade to Deep Learning (LSTM) model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00600" y="37307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🌐  Public API for NGOs and government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00600" y="4160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📡  Live integration with TFDA market prices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</a:rPr>
              <a:t>for your attention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548640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880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196F3"/>
                </a:solidFill>
              </a:rPr>
              <a:t>SokoAI — A real solution to a real problem in Tanzania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👨‍💻 Developer:  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34290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Davis Every Swai (Davy)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34290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🏢 Company:  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34290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Terra Consultant Limited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9319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🌐 Portfolio: 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39319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swai-d.github.io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39319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💻 GitHub:  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39319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github.com/Swai-D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4663440"/>
            <a:ext cx="2743200" cy="320040"/>
          </a:xfrm>
          <a:prstGeom prst="rect">
            <a:avLst/>
          </a:prstGeom>
          <a:solidFill>
            <a:srgbClr val="052E16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0" y="4681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✅  Model Accuracy: 86.7%  ·  5 Commodities  ·  Data: 2023–2024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SokoAI — Market Price Prediction System</dc:title>
  <dc:subject>AI Solution for Food Commodity Price Prediction — Tanzania</dc:subject>
  <dc:creator>Davis Every Swai</dc:creator>
  <cp:lastModifiedBy>Davis Every Swai</cp:lastModifiedBy>
  <cp:revision>1</cp:revision>
  <dcterms:created xsi:type="dcterms:W3CDTF">2026-05-14T14:25:32Z</dcterms:created>
  <dcterms:modified xsi:type="dcterms:W3CDTF">2026-05-14T14:25:32Z</dcterms:modified>
</cp:coreProperties>
</file>